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pMohanty/PlantVillage-Dataset" TargetMode="External"/><Relationship Id="rId2" Type="http://schemas.openxmlformats.org/officeDocument/2006/relationships/hyperlink" Target="https://github.com/shubhajitml/crop-disease-detector" TargetMode="External"/><Relationship Id="rId3" Type="http://schemas.openxmlformats.org/officeDocument/2006/relationships/hyperlink" Target="https://github.com/MindDock/crop-pest-detection" TargetMode="External"/><Relationship Id="rId4" Type="http://schemas.openxmlformats.org/officeDocument/2006/relationships/hyperlink" Target="https://github.com/hwzhanng/DLCPD-25-Dataset" TargetMode="External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3563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Smart India Hackathon 2026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049040"/>
            <a:ext cx="6296860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CropGuard AI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61475" y="1445915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AI-Powered Early Detection &amp; Management of Crop Diseases and Pest Infestations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1922463"/>
            <a:ext cx="2311144" cy="167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Problem Statement ID:</a:t>
            </a:r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SIH26131</a:t>
            </a:r>
            <a:endParaRPr lang="en-US" sz="1100" dirty="0"/>
          </a:p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Problem:</a:t>
            </a:r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Early detection and management of crop diseases and pest infestations</a:t>
            </a:r>
            <a:endParaRPr lang="en-US" sz="1100" dirty="0"/>
          </a:p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Theme:</a:t>
            </a:r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Agriculture, FoodTech &amp; Rural Development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PS Category: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Software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3753445"/>
            <a:ext cx="2311144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3927475"/>
            <a:ext cx="2311144" cy="227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Organization:</a:t>
            </a:r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Government of Maharashtra / Maharashtra State Innovation Society</a:t>
            </a:r>
            <a:endParaRPr lang="en-US" sz="1100" dirty="0"/>
          </a:p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Department:</a:t>
            </a:r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Department of Skills, Employment, Entrepreneurship and Innovation</a:t>
            </a:r>
            <a:endParaRPr lang="en-US" sz="1100" dirty="0"/>
          </a:p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Team:</a:t>
            </a:r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[INSERT TEAM NAME] — ID: [INSERT TEAM ID]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Members: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[INSERT TEAM MEMBERS]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24836" y="1922463"/>
            <a:ext cx="363974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7000"/>
              </a:lnSpc>
              <a:spcAft>
                <a:spcPts val="750"/>
              </a:spcAft>
              <a:buNone/>
            </a:pPr>
            <a:endParaRPr lang="en-US" sz="11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Top-right: Smart India Hackathon 2026 visual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01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Approach Details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82824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we solve the given problem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95773"/>
            <a:ext cx="522899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CropGuard AI combines image-based disease/pest detection with weather, crop, soil, historical, and geospatial data to identify emerging risks and deliver actionable guidance to farmers and officials.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870299"/>
            <a:ext cx="522899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100090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features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3513038"/>
            <a:ext cx="5228995" cy="2710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AI-based crop disease identification from images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Pest detection &amp; pest-trap integration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Weather-based disease/pest risk forecasting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Crop stage &amp; variety-aware risk analysis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Soil and environmental context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Geospatial hotspot detection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Multilingual farmer advisories (EN/HI/MR)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IPM guidance, expert validation and lab referral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Follow-up crop monitoring &amp; surveillance dashboard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7575" y="2473523"/>
            <a:ext cx="731025" cy="9138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25921" y="2473523"/>
            <a:ext cx="1602442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Farmer — Image Upload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225921" y="3149501"/>
            <a:ext cx="1602442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Demo values labeled: DEMO / PROTOTYPE DATA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683" y="2473523"/>
            <a:ext cx="731025" cy="9138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34029" y="2473523"/>
            <a:ext cx="160254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Diagnosis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9934029" y="2886472"/>
            <a:ext cx="160254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Image-based detection (computer vision)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575" y="4213126"/>
            <a:ext cx="731025" cy="9138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5921" y="4213126"/>
            <a:ext cx="160244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Prediction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225921" y="4626074"/>
            <a:ext cx="1602442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 + crop + soil + history → risk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683" y="4213126"/>
            <a:ext cx="731025" cy="9138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34029" y="4213126"/>
            <a:ext cx="160254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Officer Dashboard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934029" y="4626074"/>
            <a:ext cx="160254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Surveillance, hotspot map, assignments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6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Workflow Demo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903" y="1631355"/>
            <a:ext cx="9761789" cy="3533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1494" y="4302610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Admin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31494" y="3237466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Expert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2161452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Farmer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377855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Top labels: FARMER → EXPERT / EXTENSION OFFICER → ADMIN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highlight>
                  <a:srgbClr val="C4D5EF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Design note: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Mobile UI mockups for Farmer, Expert, Officer shown; demo values labeled SIMULATED DATA.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781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Technical Approach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1035050"/>
            <a:ext cx="474432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 stack (MVP → Production)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76846"/>
            <a:ext cx="273142" cy="2731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628874"/>
            <a:ext cx="474432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1862733"/>
            <a:ext cx="4744323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Streamlit • Python (prototype)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26952"/>
            <a:ext cx="273142" cy="2731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2478980"/>
            <a:ext cx="474432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1475" y="2712839"/>
            <a:ext cx="4744323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FastAPI • Python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977059"/>
            <a:ext cx="273142" cy="2731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329087"/>
            <a:ext cx="474432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/ ML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61475" y="3562945"/>
            <a:ext cx="4744323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PyTorch • Torchvision • OpenCV • EfficientNet / MobileNet • YOLO • Scikit-learn • XGBoost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27165"/>
            <a:ext cx="273142" cy="2731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179193"/>
            <a:ext cx="474432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61475" y="4413052"/>
            <a:ext cx="4744323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SQLite (MVP) → PostgreSQL + PostGIS; Pandas, JSON/CSV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77271"/>
            <a:ext cx="273142" cy="27314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029299"/>
            <a:ext cx="474432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Maps &amp; GIS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661475" y="5263158"/>
            <a:ext cx="4744323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Folium • Leaflet / MapLibre • spatial analytics</a:t>
            </a:r>
            <a:endParaRPr lang="en-US" sz="8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527377"/>
            <a:ext cx="273142" cy="27314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1475" y="5879405"/>
            <a:ext cx="4744323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661475" y="6113264"/>
            <a:ext cx="4744323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Docker • Cloud-ready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5678643" y="2049363"/>
            <a:ext cx="5857828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78643" y="2291159"/>
            <a:ext cx="5857828" cy="275093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08391" y="4364273"/>
            <a:ext cx="1285297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Farmer App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5817056" y="4570640"/>
            <a:ext cx="1576631" cy="10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Submit images and location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9861368" y="3915836"/>
            <a:ext cx="1285297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Image AI Engine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9861368" y="4122203"/>
            <a:ext cx="1536645" cy="10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Computer vision diagnosis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108301" y="3507387"/>
            <a:ext cx="1285297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Engine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5816967" y="3713754"/>
            <a:ext cx="1576631" cy="10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Weather, soil, history inputs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9861368" y="3024674"/>
            <a:ext cx="1285297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Fusion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9861368" y="3231041"/>
            <a:ext cx="1536645" cy="10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Combine models and GIS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6108391" y="2650501"/>
            <a:ext cx="1285297" cy="160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Advisory &amp; Review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817056" y="2856867"/>
            <a:ext cx="1576631" cy="10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Recommendations and experts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5678643" y="5113139"/>
            <a:ext cx="6467412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Note: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CV is primary diagnosis engine; LLMs only used for multilingual interfaces / text formatting, not for diagnosis.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348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Feasibility &amp; Viability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100634"/>
            <a:ext cx="339835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359396"/>
            <a:ext cx="3398356" cy="628452"/>
          </a:xfrm>
          <a:prstGeom prst="roundRect">
            <a:avLst>
              <a:gd name="adj" fmla="val 274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776566" y="1474490"/>
            <a:ext cx="316817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Image Detection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6566" y="1724521"/>
            <a:ext cx="316817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Leverage open datasets &amp; pretrained CV models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2057995"/>
            <a:ext cx="3398356" cy="628452"/>
          </a:xfrm>
          <a:prstGeom prst="roundRect">
            <a:avLst>
              <a:gd name="adj" fmla="val 274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76566" y="2173089"/>
            <a:ext cx="316817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Weather Risk 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6566" y="2423120"/>
            <a:ext cx="316817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 APIs provide environmental signals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1475" y="2756595"/>
            <a:ext cx="3398356" cy="628452"/>
          </a:xfrm>
          <a:prstGeom prst="roundRect">
            <a:avLst>
              <a:gd name="adj" fmla="val 274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76566" y="2871688"/>
            <a:ext cx="316817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GIS Hotspot Mapping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6566" y="3121720"/>
            <a:ext cx="316817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Location-tagged cases identify clusters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1475" y="3455194"/>
            <a:ext cx="3398356" cy="628452"/>
          </a:xfrm>
          <a:prstGeom prst="roundRect">
            <a:avLst>
              <a:gd name="adj" fmla="val 274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76566" y="3570287"/>
            <a:ext cx="316817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Low-Cost Deployment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6566" y="3820319"/>
            <a:ext cx="316817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Smartphone + software MVP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1475" y="4153793"/>
            <a:ext cx="3398356" cy="628452"/>
          </a:xfrm>
          <a:prstGeom prst="roundRect">
            <a:avLst>
              <a:gd name="adj" fmla="val 2749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76566" y="4268887"/>
            <a:ext cx="316817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6566" y="4518918"/>
            <a:ext cx="316817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Expert review for low-confidence/critical cases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7161" y="1100634"/>
            <a:ext cx="339835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7161" y="1350665"/>
            <a:ext cx="3398356" cy="1011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Poor image quality: blur, shadows, cluttered backgrounds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Limited connectivity in rural areas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Similar symptoms across causes (disease vs nutrient stress)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Limited local labeled field data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False predictions — need validation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Farmer adoption &amp; usability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32847" y="1100634"/>
            <a:ext cx="35098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32847" y="1542455"/>
            <a:ext cx="350987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3" name="Text 21"/>
          <p:cNvSpPr/>
          <p:nvPr/>
        </p:nvSpPr>
        <p:spPr>
          <a:xfrm>
            <a:off x="8032847" y="1625402"/>
            <a:ext cx="35098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Offline-Friendly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32847" y="1875433"/>
            <a:ext cx="35098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Local caching &amp; sync when online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32847" y="2363192"/>
            <a:ext cx="350987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8032847" y="2446139"/>
            <a:ext cx="35098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Confidence Thresholds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32847" y="2696170"/>
            <a:ext cx="35098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Route low-confidence to experts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32847" y="3183930"/>
            <a:ext cx="350987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9" name="Text 27"/>
          <p:cNvSpPr/>
          <p:nvPr/>
        </p:nvSpPr>
        <p:spPr>
          <a:xfrm>
            <a:off x="8032847" y="3266877"/>
            <a:ext cx="35098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32847" y="3516908"/>
            <a:ext cx="35098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Expert validation &amp; lab referral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32847" y="4004667"/>
            <a:ext cx="350987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2" name="Text 30"/>
          <p:cNvSpPr/>
          <p:nvPr/>
        </p:nvSpPr>
        <p:spPr>
          <a:xfrm>
            <a:off x="8032847" y="4087614"/>
            <a:ext cx="35098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Local Data Collection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32847" y="4337645"/>
            <a:ext cx="35098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confirmed cases to improve models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32847" y="4825405"/>
            <a:ext cx="350987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5" name="Text 33"/>
          <p:cNvSpPr/>
          <p:nvPr/>
        </p:nvSpPr>
        <p:spPr>
          <a:xfrm>
            <a:off x="8032847" y="4908352"/>
            <a:ext cx="35098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Multilingual UI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32847" y="5158383"/>
            <a:ext cx="35098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English, Marathi, Hindi; simple UX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32847" y="5646142"/>
            <a:ext cx="350987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8" name="Text 36"/>
          <p:cNvSpPr/>
          <p:nvPr/>
        </p:nvSpPr>
        <p:spPr>
          <a:xfrm>
            <a:off x="8032847" y="5729089"/>
            <a:ext cx="350987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Controlled Advisory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32847" y="5979120"/>
            <a:ext cx="350987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Validated IPM guidance; no ad-hoc chemical dosing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591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 &amp; Benefits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05880"/>
            <a:ext cx="5308269" cy="30080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8301" y="2324795"/>
            <a:ext cx="5308269" cy="127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228301" y="2426791"/>
            <a:ext cx="530826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spcAft>
                <a:spcPts val="350"/>
              </a:spcAft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Chain:</a:t>
            </a:r>
            <a:pPr algn="l" indent="0" marL="0">
              <a:lnSpc>
                <a:spcPct val="103000"/>
              </a:lnSpc>
              <a:spcAft>
                <a:spcPts val="350"/>
              </a:spcAft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Detect Early ↓ Predict Risk ↓ Act Quickly ↓ Monitor ↓ Learn ↓ Prevent Future Outbreaks</a:t>
            </a:r>
            <a:endParaRPr lang="en-US" sz="8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C6C9DC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From individual farm diagnosis to district-level agricultural intelligence.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140895"/>
            <a:ext cx="258359" cy="2583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4469904"/>
            <a:ext cx="539905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EARLIER DISEASE DETECTION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1475" y="4665166"/>
            <a:ext cx="5399052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problems before they spread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1168" y="4140895"/>
            <a:ext cx="258359" cy="2583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31168" y="4469904"/>
            <a:ext cx="539905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REDUCED CROP LOSS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131168" y="4665166"/>
            <a:ext cx="5399052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Timely advisories enable targeted action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06070"/>
            <a:ext cx="258359" cy="2583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5235079"/>
            <a:ext cx="539905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TARGETED INPUT USE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61475" y="5430341"/>
            <a:ext cx="5399052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 unnecessary pesticide use via IPM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1168" y="4906070"/>
            <a:ext cx="258359" cy="2583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31168" y="5235079"/>
            <a:ext cx="539905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EXTENSION RESPONSE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6131168" y="5430341"/>
            <a:ext cx="5399052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Prioritize high-risk locations and cases</a:t>
            </a:r>
            <a:endParaRPr lang="en-US" sz="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5671245"/>
            <a:ext cx="258359" cy="25836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1475" y="6000254"/>
            <a:ext cx="539905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REGIONAL SURVEILLANCE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661475" y="6195516"/>
            <a:ext cx="5399052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Hotspot mapping for district-level planning</a:t>
            </a:r>
            <a:endParaRPr lang="en-US" sz="8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31168" y="5671245"/>
            <a:ext cx="258359" cy="25836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31168" y="6000254"/>
            <a:ext cx="5399052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BETTER FARMER ACCESS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6131168" y="6195516"/>
            <a:ext cx="5399052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Multilingual, simple, actionable advisories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44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Research &amp; References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7191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datasets, open-source projects and literature relevant to CropGuard AI: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1946573"/>
            <a:ext cx="10868745" cy="267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PlantVillage Dataset — plant disease image dataset for automated diagnosis research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400" b="1" u="sng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https://github.com/spMohanty/PlantVillage-Dataset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400" b="1" u="sng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https://github.com/shubhajitml/crop-disease-detector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400" b="1" u="sng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https://github.com/MindDock/crop-pest-detection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400" b="1" u="sng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DLCPD-25 Dataset — crop disease &amp; pest research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Machine Learning literature on detection &amp; forecasting of crop diseases and pests (agriculture journals)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7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BOLLWM Dataset — bollworm images from Indian smallholder environments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Font typeface="+mj-lt"/>
              <a:buAutoNum type="arabicPeriod" startAt="8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Aphid Dataset — sorghum aphid image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485675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5120283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Prototype technologies: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Python • Streamlit • PyTorch • OpenCV • Scikit-learn • Folium • SQLite • Weather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5594945"/>
            <a:ext cx="10868745" cy="697508"/>
          </a:xfrm>
          <a:prstGeom prst="roundRect">
            <a:avLst>
              <a:gd name="adj" fmla="val 3874"/>
            </a:avLst>
          </a:prstGeom>
          <a:solidFill>
            <a:srgbClr val="CCD7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52" y="5838031"/>
            <a:ext cx="225122" cy="1800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6752" y="5811540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 message: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CropGuard AI — Detect Early. Predict Risk. Act Smart.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150F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2026-09-07T11:01:03Z</dcterms:created>
  <dcterms:modified xsi:type="dcterms:W3CDTF">2026-09-07T11:01:03Z</dcterms:modified>
</cp:coreProperties>
</file>